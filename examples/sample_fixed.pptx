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受注件数</c:v>
                </c:pt>
              </c:strCache>
            </c:strRef>
          </c:tx>
          <c:spPr>
            <a:solidFill>
              <a:srgbClr val="1B2A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395</c:v>
                </c:pt>
                <c:pt idx="2">
                  <c:v>520</c:v>
                </c:pt>
                <c:pt idx="3">
                  <c:v>740</c:v>
                </c:pt>
                <c:pt idx="4">
                  <c:v>690</c:v>
                </c:pt>
                <c:pt idx="5">
                  <c:v>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P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ja-JP" sz="2200" dirty="0"/>
          </a:p>
        </p:txBody>
      </p:sp>
      <p:sp>
        <p:nvSpPr>
          <p:cNvPr id="3" name="Text 0"/>
          <p:cNvSpPr/>
          <p:nvPr/>
        </p:nvSpPr>
        <p:spPr>
          <a:xfrm>
            <a:off x="566928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株式会社サンプル精工　社外秘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P_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受注業務のデジタル化で、</a:t>
            </a:r>
            <a:endParaRPr lang="ja-JP" sz="340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月120時間の手作業を削減する</a:t>
            </a:r>
            <a:endParaRPr lang="ja-JP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D6DC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株式会社サンプル精工 様　ご提案資料</a:t>
            </a:r>
            <a:endParaRPr lang="ja-JP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D6DC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　｜　株式会社サンプルコンサルティング</a:t>
            </a:r>
            <a:endParaRPr lang="ja-JP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受注処理の7割を自動化し、年間約860万円のコスト削減を見込む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現状：受注1件あたり平均18分、うち12分が転記と確認作業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FAX・メールで届く注文書を、担当者3名が基幹システムへ手入力している</a:t>
            </a:r>
            <a:endParaRPr lang="ja-JP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7178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67178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58618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課題：転記ミスによる誤出荷が月6件、繁忙期は残業が月40時間超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属人化しており、担当者の休暇時に処理が滞る</a:t>
            </a:r>
            <a:endParaRPr lang="ja-JP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54196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854196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45636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打ち手：注文書の読み取り→システム登録→確認依頼までを自動化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AI-OCRと既存の基幹システムAPIを連携。人は例外処理と最終確認のみ</a:t>
            </a:r>
            <a:endParaRPr lang="ja-JP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141214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141214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232654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効果：月120時間の削減、誤出荷ゼロ化、投資回収は約7か月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初期費用480万円、運用費月8万円（詳細は p.6）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ミスと残業の根本原因は「人による転記」に集中している</a:t>
            </a:r>
            <a:endParaRPr lang="ja-JP" sz="2200" dirty="0"/>
          </a:p>
        </p:txBody>
      </p:sp>
      <p:sp>
        <p:nvSpPr>
          <p:cNvPr id="3" name="lead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業務フローを分解すると、問題の8割は注文書の読み取りと転記の工程で発生している</a:t>
            </a:r>
            <a:endParaRPr lang="ja-JP" sz="1400" dirty="0"/>
          </a:p>
        </p:txBody>
      </p:sp>
      <p:sp>
        <p:nvSpPr>
          <p:cNvPr id="4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出所：受注担当者3名へのヒアリング（2026年9月）、受注データ（2026年4〜9月）</a:t>
            </a:r>
            <a:endParaRPr lang="ja-JP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76218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ja-JP" sz="1400" dirty="0"/>
          </a:p>
        </p:txBody>
      </p:sp>
      <p:sp>
        <p:nvSpPr>
          <p:cNvPr id="7" name="Shape 5"/>
          <p:cNvSpPr/>
          <p:nvPr/>
        </p:nvSpPr>
        <p:spPr>
          <a:xfrm>
            <a:off x="4307738" y="1783080"/>
            <a:ext cx="3576218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07738" y="178308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ja-JP" sz="1400" dirty="0"/>
          </a:p>
        </p:txBody>
      </p:sp>
      <p:sp>
        <p:nvSpPr>
          <p:cNvPr id="9" name="Shape 7"/>
          <p:cNvSpPr/>
          <p:nvPr/>
        </p:nvSpPr>
        <p:spPr>
          <a:xfrm>
            <a:off x="8158277" y="1783080"/>
            <a:ext cx="3576218" cy="41148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58277" y="178308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</a:t>
            </a:r>
            <a:endParaRPr lang="ja-JP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42316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FAX・PDFの注文書を目視で読み取り</a:t>
            </a:r>
            <a:endParaRPr lang="ja-JP" sz="1300" dirty="0"/>
          </a:p>
        </p:txBody>
      </p:sp>
      <p:sp>
        <p:nvSpPr>
          <p:cNvPr id="13" name="Shape 11"/>
          <p:cNvSpPr/>
          <p:nvPr/>
        </p:nvSpPr>
        <p:spPr>
          <a:xfrm>
            <a:off x="4088282" y="280416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7738" y="233172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44898" y="242316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品番の読み違い・桁ずれが発生</a:t>
            </a:r>
            <a:endParaRPr lang="ja-JP" sz="1300" dirty="0"/>
          </a:p>
        </p:txBody>
      </p:sp>
      <p:sp>
        <p:nvSpPr>
          <p:cNvPr id="16" name="Shape 14"/>
          <p:cNvSpPr/>
          <p:nvPr/>
        </p:nvSpPr>
        <p:spPr>
          <a:xfrm>
            <a:off x="7938821" y="280416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8277" y="2331720"/>
            <a:ext cx="3576218" cy="121920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95437" y="242316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AI-OCRで自動読み取りし、品番マスタと</a:t>
            </a:r>
            <a:b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自動照合</a:t>
            </a:r>
            <a:endParaRPr lang="ja-JP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8808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77952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基幹システムへ手入力（1件約12分）</a:t>
            </a:r>
            <a:endParaRPr lang="ja-JP" sz="1300" dirty="0"/>
          </a:p>
        </p:txBody>
      </p:sp>
      <p:sp>
        <p:nvSpPr>
          <p:cNvPr id="21" name="Shape 19"/>
          <p:cNvSpPr/>
          <p:nvPr/>
        </p:nvSpPr>
        <p:spPr>
          <a:xfrm>
            <a:off x="4088282" y="416052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307738" y="368808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44898" y="377952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繁忙期に処理が追いつかない</a:t>
            </a:r>
            <a:endParaRPr lang="ja-JP" sz="1300" dirty="0"/>
          </a:p>
        </p:txBody>
      </p:sp>
      <p:sp>
        <p:nvSpPr>
          <p:cNvPr id="24" name="Shape 22"/>
          <p:cNvSpPr/>
          <p:nvPr/>
        </p:nvSpPr>
        <p:spPr>
          <a:xfrm>
            <a:off x="7938821" y="416052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25" name="Shape 23"/>
          <p:cNvSpPr/>
          <p:nvPr/>
        </p:nvSpPr>
        <p:spPr>
          <a:xfrm>
            <a:off x="8158277" y="3688080"/>
            <a:ext cx="3576218" cy="121920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95437" y="377952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読み取り結果をAPI経由で自動登録</a:t>
            </a:r>
            <a:endParaRPr lang="ja-JP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4444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13588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担当者がダブルチェック</a:t>
            </a:r>
            <a:endParaRPr lang="ja-JP" sz="1300" dirty="0"/>
          </a:p>
        </p:txBody>
      </p:sp>
      <p:sp>
        <p:nvSpPr>
          <p:cNvPr id="29" name="Shape 27"/>
          <p:cNvSpPr/>
          <p:nvPr/>
        </p:nvSpPr>
        <p:spPr>
          <a:xfrm>
            <a:off x="4088282" y="551688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30" name="Shape 28"/>
          <p:cNvSpPr/>
          <p:nvPr/>
        </p:nvSpPr>
        <p:spPr>
          <a:xfrm>
            <a:off x="4307738" y="504444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44898" y="513588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チェック自体が属人化</a:t>
            </a:r>
            <a:endParaRPr lang="ja-JP" sz="1300" dirty="0"/>
          </a:p>
        </p:txBody>
      </p:sp>
      <p:sp>
        <p:nvSpPr>
          <p:cNvPr id="32" name="Shape 30"/>
          <p:cNvSpPr/>
          <p:nvPr/>
        </p:nvSpPr>
        <p:spPr>
          <a:xfrm>
            <a:off x="7938821" y="551688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33" name="Shape 31"/>
          <p:cNvSpPr/>
          <p:nvPr/>
        </p:nvSpPr>
        <p:spPr>
          <a:xfrm>
            <a:off x="8158277" y="5044440"/>
            <a:ext cx="3576218" cy="121920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95437" y="513588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差異があるものだけを担当者に通知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繁忙期の受注件数は通常月の1.8倍で、現体制では処理しきれない</a:t>
            </a:r>
            <a:endParaRPr lang="ja-JP" sz="2200" dirty="0"/>
          </a:p>
        </p:txBody>
      </p:sp>
      <p:sp>
        <p:nvSpPr>
          <p:cNvPr id="3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出所：基幹システムの受注データ（2026年4〜9月）</a:t>
            </a:r>
            <a:endParaRPr lang="ja-JP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22376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unit"/>
          <p:cNvSpPr txBox="1"/>
          <p:nvPr/>
        </p:nvSpPr>
        <p:spPr>
          <a:xfrm>
            <a:off x="45720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（件）</a:t>
            </a:r>
            <a:endParaRPr lang="ja-JP" sz="1000" dirty="0"/>
          </a:p>
        </p:txBody>
      </p:sp>
      <p:sp>
        <p:nvSpPr>
          <p:cNvPr id="6" name="Shape 3"/>
          <p:cNvSpPr/>
          <p:nvPr/>
        </p:nvSpPr>
        <p:spPr>
          <a:xfrm>
            <a:off x="7955280" y="1280160"/>
            <a:ext cx="3779215" cy="498348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150876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示唆</a:t>
            </a:r>
            <a:endParaRPr lang="ja-JP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011680"/>
            <a:ext cx="323057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7〜8月の受注は通常月の約1.8倍</a:t>
            </a:r>
            <a:endParaRPr lang="ja-JP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1件18分で計算すると、繁忙月は約220時間が必要</a:t>
            </a:r>
            <a:endParaRPr lang="ja-JP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担当者3名の処理能力</a:t>
            </a:r>
            <a:b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（約150時間）を大きく</a:t>
            </a:r>
            <a:b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超えている</a:t>
            </a:r>
            <a:endParaRPr lang="ja-JP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3つの選択肢のうち、案Bが費用対効果と導入リスクのバランスに優れる</a:t>
            </a:r>
            <a:endParaRPr lang="ja-JP" sz="2200" dirty="0"/>
          </a:p>
        </p:txBody>
      </p:sp>
      <p:sp>
        <p:nvSpPr>
          <p:cNvPr id="3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出所：各社見積もり（2026年10月時点）をもとに作成</a:t>
            </a:r>
            <a:endParaRPr lang="ja-JP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58058"/>
                <a:gridCol w="3058058"/>
                <a:gridCol w="3058058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案A：人員増強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案B：AI-OCR＋API連携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案C：基幹システム刷新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初期費用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480万円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3,200万円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年間コスト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約900万円（2名採用）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約96万円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約360万円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削減時間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—（工数は減らない）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月120時間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月140時間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導入期間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2〜3か月（採用）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3か月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12〜18か月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主なリスク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採用難・教育負担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読み取り精度の初期調整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長期化・現場の混乱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導入後12か月で、時間・品質・費用のすべてに効果が出る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4" name="bottomLine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　</a:t>
            </a:r>
            <a:pPr indent="0" marL="0"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初期投資480万円は、約7か月で回収できる</a:t>
            </a:r>
            <a:endParaRPr lang="ja-JP" sz="1600" dirty="0"/>
          </a:p>
        </p:txBody>
      </p:sp>
      <p:sp>
        <p:nvSpPr>
          <p:cNvPr id="5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出所：当社試算（人件費は時給換算3,000円で計算）</a:t>
            </a:r>
            <a:endParaRPr lang="ja-JP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576218" cy="40233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削減できる作業時間</a:t>
            </a:r>
            <a:endParaRPr lang="ja-JP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120</a:t>
            </a:r>
            <a:pPr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時間/月</a:t>
            </a:r>
            <a:endParaRPr lang="ja-JP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受注処理の約7割を自動化。担当者は</a:t>
            </a:r>
            <a:b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例外処理と顧客対応に集中できる</a:t>
            </a:r>
            <a:endParaRPr lang="ja-JP" sz="1300" dirty="0"/>
          </a:p>
        </p:txBody>
      </p:sp>
      <p:sp>
        <p:nvSpPr>
          <p:cNvPr id="10" name="Shape 8"/>
          <p:cNvSpPr/>
          <p:nvPr/>
        </p:nvSpPr>
        <p:spPr>
          <a:xfrm>
            <a:off x="4307738" y="1280160"/>
            <a:ext cx="3576218" cy="40233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2058" y="1828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誤出荷</a:t>
            </a:r>
            <a:endParaRPr lang="ja-JP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23317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pPr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件/月</a:t>
            </a:r>
            <a:endParaRPr lang="ja-JP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582058" y="36576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現状は月平均6件。品番マスタとの</a:t>
            </a:r>
            <a:b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自動照合で転記ミスを防ぐ</a:t>
            </a:r>
            <a:endParaRPr lang="ja-JP" sz="1300" dirty="0"/>
          </a:p>
        </p:txBody>
      </p:sp>
      <p:sp>
        <p:nvSpPr>
          <p:cNvPr id="14" name="Shape 12"/>
          <p:cNvSpPr/>
          <p:nvPr/>
        </p:nvSpPr>
        <p:spPr>
          <a:xfrm>
            <a:off x="8158277" y="1280160"/>
            <a:ext cx="3576218" cy="40233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32597" y="1828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投資回収期間</a:t>
            </a:r>
            <a:endParaRPr lang="ja-JP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32597" y="23317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pPr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か月</a:t>
            </a:r>
            <a:endParaRPr lang="ja-JP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36576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初期費用480万円に対し、</a:t>
            </a:r>
            <a:b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年間約860万円の削減効果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まずは「効果が大きく、すぐ始められる」受注処理から着手する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1325880" y="1325880"/>
            <a:ext cx="5044288" cy="21488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00200" y="146304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在庫引当の自動化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効果は大きいが、在庫データの整備が先に必要</a:t>
            </a:r>
            <a:endParaRPr lang="ja-JP" sz="1700" dirty="0"/>
          </a:p>
        </p:txBody>
      </p:sp>
      <p:sp>
        <p:nvSpPr>
          <p:cNvPr id="5" name="Shape 3"/>
          <p:cNvSpPr/>
          <p:nvPr/>
        </p:nvSpPr>
        <p:spPr>
          <a:xfrm>
            <a:off x="6461608" y="1325880"/>
            <a:ext cx="5044288" cy="214884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35928" y="146304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受注処理の自動化（今回の提案）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効果が大きく、既存システムのAPIですぐ始められる</a:t>
            </a:r>
            <a:endParaRPr lang="ja-JP" sz="1700" dirty="0"/>
          </a:p>
        </p:txBody>
      </p:sp>
      <p:sp>
        <p:nvSpPr>
          <p:cNvPr id="7" name="Shape 5"/>
          <p:cNvSpPr/>
          <p:nvPr/>
        </p:nvSpPr>
        <p:spPr>
          <a:xfrm>
            <a:off x="1325880" y="3566160"/>
            <a:ext cx="5044288" cy="21488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370332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請求書発行の電子化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効果は限定的。受注処理の後に検討</a:t>
            </a:r>
            <a:endParaRPr lang="ja-JP" sz="1700" dirty="0"/>
          </a:p>
        </p:txBody>
      </p:sp>
      <p:sp>
        <p:nvSpPr>
          <p:cNvPr id="9" name="Shape 7"/>
          <p:cNvSpPr/>
          <p:nvPr/>
        </p:nvSpPr>
        <p:spPr>
          <a:xfrm>
            <a:off x="6461608" y="3566160"/>
            <a:ext cx="5044288" cy="21488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35928" y="370332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日報のデジタル化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すぐ始められるが、削減効果は小さい</a:t>
            </a:r>
            <a:endParaRPr lang="ja-JP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1280160"/>
            <a:ext cx="0" cy="448056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1280160" y="5870448"/>
            <a:ext cx="10271455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57200" y="1280160"/>
            <a:ext cx="548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eaVer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効果の大きさ</a:t>
            </a:r>
            <a:endParaRPr lang="ja-JP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94360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導入のしやすさ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3か月で本番稼働し、4か月目から効果測定に入る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2487168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468880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</a:t>
            </a:r>
            <a:endParaRPr lang="ja-JP" sz="1300" dirty="0"/>
          </a:p>
        </p:txBody>
      </p:sp>
      <p:sp>
        <p:nvSpPr>
          <p:cNvPr id="5" name="Shape 3"/>
          <p:cNvSpPr/>
          <p:nvPr/>
        </p:nvSpPr>
        <p:spPr>
          <a:xfrm>
            <a:off x="4340291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22003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</a:t>
            </a:r>
            <a:endParaRPr lang="ja-JP" sz="1300" dirty="0"/>
          </a:p>
        </p:txBody>
      </p:sp>
      <p:sp>
        <p:nvSpPr>
          <p:cNvPr id="7" name="Shape 5"/>
          <p:cNvSpPr/>
          <p:nvPr/>
        </p:nvSpPr>
        <p:spPr>
          <a:xfrm>
            <a:off x="6193414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5126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</a:t>
            </a:r>
            <a:endParaRPr lang="ja-JP" sz="1300" dirty="0"/>
          </a:p>
        </p:txBody>
      </p:sp>
      <p:sp>
        <p:nvSpPr>
          <p:cNvPr id="9" name="Shape 7"/>
          <p:cNvSpPr/>
          <p:nvPr/>
        </p:nvSpPr>
        <p:spPr>
          <a:xfrm>
            <a:off x="8046537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28249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2月</a:t>
            </a:r>
            <a:endParaRPr lang="ja-JP" sz="1300" dirty="0"/>
          </a:p>
        </p:txBody>
      </p:sp>
      <p:sp>
        <p:nvSpPr>
          <p:cNvPr id="11" name="Shape 9"/>
          <p:cNvSpPr/>
          <p:nvPr/>
        </p:nvSpPr>
        <p:spPr>
          <a:xfrm>
            <a:off x="9899660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81372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</a:t>
            </a:r>
            <a:endParaRPr lang="ja-JP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7830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要件整理</a:t>
            </a:r>
            <a:endParaRPr lang="ja-JP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194767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06040" y="194767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業務フロー確認・</a:t>
            </a:r>
            <a:b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帳票収集</a:t>
            </a:r>
            <a:endParaRPr lang="ja-JP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開発・設定</a:t>
            </a:r>
            <a:endParaRPr lang="ja-JP" sz="1300" dirty="0"/>
          </a:p>
        </p:txBody>
      </p:sp>
      <p:sp>
        <p:nvSpPr>
          <p:cNvPr id="19" name="Shape 17"/>
          <p:cNvSpPr/>
          <p:nvPr/>
        </p:nvSpPr>
        <p:spPr>
          <a:xfrm>
            <a:off x="3441162" y="295351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32602" y="295351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AI-OCR設定</a:t>
            </a:r>
            <a:endParaRPr lang="ja-JP" sz="1200" dirty="0"/>
          </a:p>
        </p:txBody>
      </p:sp>
      <p:sp>
        <p:nvSpPr>
          <p:cNvPr id="21" name="Shape 19"/>
          <p:cNvSpPr/>
          <p:nvPr/>
        </p:nvSpPr>
        <p:spPr>
          <a:xfrm>
            <a:off x="5294285" y="295351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85725" y="295351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API連携開発</a:t>
            </a:r>
            <a:endParaRPr lang="ja-JP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7947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ja-JP" sz="1300" dirty="0"/>
          </a:p>
        </p:txBody>
      </p:sp>
      <p:sp>
        <p:nvSpPr>
          <p:cNvPr id="25" name="Shape 23"/>
          <p:cNvSpPr/>
          <p:nvPr/>
        </p:nvSpPr>
        <p:spPr>
          <a:xfrm>
            <a:off x="6220846" y="395935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12286" y="395935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並行稼働テスト</a:t>
            </a:r>
            <a:endParaRPr lang="ja-JP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0644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8006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本番稼働</a:t>
            </a:r>
            <a:endParaRPr lang="ja-JP" sz="1300" dirty="0"/>
          </a:p>
        </p:txBody>
      </p:sp>
      <p:sp>
        <p:nvSpPr>
          <p:cNvPr id="29" name="Shape 27"/>
          <p:cNvSpPr/>
          <p:nvPr/>
        </p:nvSpPr>
        <p:spPr>
          <a:xfrm>
            <a:off x="8073969" y="4965192"/>
            <a:ext cx="1020434" cy="676656"/>
          </a:xfrm>
          <a:prstGeom prst="roundRect">
            <a:avLst>
              <a:gd name="adj" fmla="val 10811"/>
            </a:avLst>
          </a:prstGeom>
          <a:solidFill>
            <a:srgbClr val="D982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65409" y="4965192"/>
            <a:ext cx="8375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本番稼働</a:t>
            </a:r>
            <a:endParaRPr lang="ja-JP" sz="1200" dirty="0"/>
          </a:p>
        </p:txBody>
      </p:sp>
      <p:sp>
        <p:nvSpPr>
          <p:cNvPr id="31" name="Shape 29"/>
          <p:cNvSpPr/>
          <p:nvPr/>
        </p:nvSpPr>
        <p:spPr>
          <a:xfrm>
            <a:off x="9185843" y="4965192"/>
            <a:ext cx="2502932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277283" y="4965192"/>
            <a:ext cx="23200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効果測定・改善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導入後の受注処理は、人の作業が「確認」だけになる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4" name="bottomLine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　</a:t>
            </a:r>
            <a:pPr indent="0" marL="0"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担当者は「入力」から解放され、例外処理と顧客対応に時間を使える</a:t>
            </a:r>
            <a:endParaRPr lang="ja-JP" sz="1600" dirty="0"/>
          </a:p>
        </p:txBody>
      </p:sp>
      <p:sp>
        <p:nvSpPr>
          <p:cNvPr id="5" name="Shape 3"/>
          <p:cNvSpPr/>
          <p:nvPr/>
        </p:nvSpPr>
        <p:spPr>
          <a:xfrm>
            <a:off x="3109646" y="3108960"/>
            <a:ext cx="182880" cy="36576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ja-JP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注文書を受信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FAX・メール・PDFを</a:t>
            </a:r>
            <a:b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専用フォルダに自動保存</a:t>
            </a:r>
            <a:endParaRPr lang="ja-JP" sz="1700" dirty="0"/>
          </a:p>
        </p:txBody>
      </p:sp>
      <p:sp>
        <p:nvSpPr>
          <p:cNvPr id="10" name="Shape 8"/>
          <p:cNvSpPr/>
          <p:nvPr/>
        </p:nvSpPr>
        <p:spPr>
          <a:xfrm>
            <a:off x="6008980" y="3108960"/>
            <a:ext cx="182880" cy="36576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1" name="Shape 9"/>
          <p:cNvSpPr/>
          <p:nvPr/>
        </p:nvSpPr>
        <p:spPr>
          <a:xfrm>
            <a:off x="3356534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6534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ja-JP" sz="1300" dirty="0"/>
          </a:p>
        </p:txBody>
      </p:sp>
      <p:sp>
        <p:nvSpPr>
          <p:cNvPr id="13" name="Shape 11"/>
          <p:cNvSpPr/>
          <p:nvPr/>
        </p:nvSpPr>
        <p:spPr>
          <a:xfrm>
            <a:off x="3356534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85134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AIが読み取り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品番・数量・納期を</a:t>
            </a:r>
            <a:b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抽出し、品番マスタと</a:t>
            </a:r>
            <a:b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</a:t>
            </a:r>
            <a:endParaRPr lang="ja-JP" sz="1700" dirty="0"/>
          </a:p>
        </p:txBody>
      </p:sp>
      <p:sp>
        <p:nvSpPr>
          <p:cNvPr id="15" name="Shape 13"/>
          <p:cNvSpPr/>
          <p:nvPr/>
        </p:nvSpPr>
        <p:spPr>
          <a:xfrm>
            <a:off x="8908313" y="3108960"/>
            <a:ext cx="182880" cy="36576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5868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55868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ja-JP" sz="1300" dirty="0"/>
          </a:p>
        </p:txBody>
      </p:sp>
      <p:sp>
        <p:nvSpPr>
          <p:cNvPr id="18" name="Shape 16"/>
          <p:cNvSpPr/>
          <p:nvPr/>
        </p:nvSpPr>
        <p:spPr>
          <a:xfrm>
            <a:off x="6255868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システムに登録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照合済みのデータを</a:t>
            </a:r>
            <a:b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API経由で基幹システムに登録</a:t>
            </a:r>
            <a:endParaRPr lang="ja-JP" sz="1700" dirty="0"/>
          </a:p>
        </p:txBody>
      </p:sp>
      <p:sp>
        <p:nvSpPr>
          <p:cNvPr id="20" name="Shape 18"/>
          <p:cNvSpPr/>
          <p:nvPr/>
        </p:nvSpPr>
        <p:spPr>
          <a:xfrm>
            <a:off x="9155201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55201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ja-JP" sz="1300" dirty="0"/>
          </a:p>
        </p:txBody>
      </p:sp>
      <p:sp>
        <p:nvSpPr>
          <p:cNvPr id="22" name="Shape 20"/>
          <p:cNvSpPr/>
          <p:nvPr/>
        </p:nvSpPr>
        <p:spPr>
          <a:xfrm>
            <a:off x="9155201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83801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差異だけ確認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照合できなかった</a:t>
            </a:r>
            <a:b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</a:b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項目のみ担当者に通知し、人が最終判断</a:t>
            </a:r>
            <a:endParaRPr lang="ja-JP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11月中にご判断いただければ、来年3月の繁忙期前に稼働できる</a:t>
            </a:r>
            <a:endParaRPr lang="ja-JP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705295"/>
                <a:gridCol w="219456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実施事項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期限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本提案のご承認と予算の確保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サンプル精工 様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11月14日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注文書サンプル（直近3か月分）のご提供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サンプル精工 様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11月21日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要件定義書のご提出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11月28日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キックオフミーティング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双方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12月第1週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受注業務DXのご提案</dc:title>
  <dc:subject>PptxGenJS Presentation</dc:subject>
  <dc:creator>PptxGenJS</dc:creator>
  <cp:lastModifiedBy>PptxGenJS</cp:lastModifiedBy>
  <cp:revision>1</cp:revision>
  <dcterms:created xsi:type="dcterms:W3CDTF">2026-10-23T13:46:12Z</dcterms:created>
  <dcterms:modified xsi:type="dcterms:W3CDTF">2026-10-23T13:46:12Z</dcterms:modified>
</cp:coreProperties>
</file>