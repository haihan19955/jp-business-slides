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受注件数</c:v>
                </c:pt>
              </c:strCache>
            </c:strRef>
          </c:tx>
          <c:spPr>
            <a:solidFill>
              <a:srgbClr val="1B2A4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22222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9月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410</c:v>
                </c:pt>
                <c:pt idx="1">
                  <c:v>395</c:v>
                </c:pt>
                <c:pt idx="2">
                  <c:v>520</c:v>
                </c:pt>
                <c:pt idx="3">
                  <c:v>740</c:v>
                </c:pt>
                <c:pt idx="4">
                  <c:v>690</c:v>
                </c:pt>
                <c:pt idx="5">
                  <c:v>430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22222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770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P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5669280" y="6446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株式会社サンプル精工　社外秘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P_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受注業務のデジタル化で、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月120時間の手作業を削減する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611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C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株式会社サンプル精工 様　ご提案資料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DC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　｜　株式会社サンプルコンサルティング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受注処理の7割を自動化し、年間約860万円のコスト削減を見込む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7295" cy="112242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548640" cy="11224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371600"/>
            <a:ext cx="10134295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現状：受注1件あたり平均18分、うち12分が転記と確認作業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FAX・メールで届く注文書を、担当者3名が基幹システムへ手入力している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567178"/>
            <a:ext cx="11277295" cy="112242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567178"/>
            <a:ext cx="548640" cy="11224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58618"/>
            <a:ext cx="10134295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課題：転記ミスによる誤出荷が月6件、繁忙期は残業が月40時間超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属人化しており、担当者の休暇時に処理が滞る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854196"/>
            <a:ext cx="11277295" cy="112242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854196"/>
            <a:ext cx="548640" cy="11224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945636"/>
            <a:ext cx="10134295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打ち手：注文書の読み取り→システム登録→確認依頼までを自動化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AI-OCRと既存の基幹システムAPIを連携。人は例外処理と最終確認のみ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5141214"/>
            <a:ext cx="11277295" cy="1122426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5141214"/>
            <a:ext cx="548640" cy="11224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5232654"/>
            <a:ext cx="10134295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効果：月120時間の削減、誤出荷ゼロ化、投資回収は約7か月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初期費用480万円、運用費月8万円（詳細は p.6）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ミスと残業の根本原因は「人による転記」に集中している</a:t>
            </a:r>
            <a:endParaRPr lang="en-US" sz="2200" dirty="0"/>
          </a:p>
        </p:txBody>
      </p:sp>
      <p:sp>
        <p:nvSpPr>
          <p:cNvPr id="3" name="lead"/>
          <p:cNvSpPr txBox="1"/>
          <p:nvPr/>
        </p:nvSpPr>
        <p:spPr>
          <a:xfrm>
            <a:off x="457200" y="11887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業務フローを分解すると、問題の8割は注文書の読み取りと転記の工程で発生している</a:t>
            </a:r>
            <a:endParaRPr lang="en-US" sz="1400" dirty="0"/>
          </a:p>
        </p:txBody>
      </p:sp>
      <p:sp>
        <p:nvSpPr>
          <p:cNvPr id="4" name="source"/>
          <p:cNvSpPr txBox="1"/>
          <p:nvPr/>
        </p:nvSpPr>
        <p:spPr>
          <a:xfrm>
            <a:off x="457200" y="6446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出所：受注担当者3名へのヒアリング（2026年9月）、受注データ（2026年4〜9月）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576218" cy="41148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1783080"/>
            <a:ext cx="3576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07738" y="1783080"/>
            <a:ext cx="3576218" cy="41148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07738" y="1783080"/>
            <a:ext cx="3576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58277" y="1783080"/>
            <a:ext cx="3576218" cy="411480"/>
          </a:xfrm>
          <a:prstGeom prst="rect">
            <a:avLst/>
          </a:prstGeom>
          <a:solidFill>
            <a:srgbClr val="D982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58277" y="1783080"/>
            <a:ext cx="3576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3576218" cy="121920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423160"/>
            <a:ext cx="3301898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FAX・PDFの注文書を目視で読み取り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088282" y="2804160"/>
            <a:ext cx="164592" cy="274320"/>
          </a:xfrm>
          <a:prstGeom prst="chevron">
            <a:avLst/>
          </a:prstGeom>
          <a:solidFill>
            <a:srgbClr val="C9CFD6"/>
          </a:solidFill>
          <a:ln/>
        </p:spPr>
      </p:sp>
      <p:sp>
        <p:nvSpPr>
          <p:cNvPr id="14" name="Shape 12"/>
          <p:cNvSpPr/>
          <p:nvPr/>
        </p:nvSpPr>
        <p:spPr>
          <a:xfrm>
            <a:off x="4307738" y="2331720"/>
            <a:ext cx="3576218" cy="121920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444898" y="2423160"/>
            <a:ext cx="3301898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品番の読み違い・桁ずれが発生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38821" y="2804160"/>
            <a:ext cx="164592" cy="274320"/>
          </a:xfrm>
          <a:prstGeom prst="chevron">
            <a:avLst/>
          </a:prstGeom>
          <a:solidFill>
            <a:srgbClr val="C9CFD6"/>
          </a:solidFill>
          <a:ln/>
        </p:spPr>
      </p:sp>
      <p:sp>
        <p:nvSpPr>
          <p:cNvPr id="17" name="Shape 15"/>
          <p:cNvSpPr/>
          <p:nvPr/>
        </p:nvSpPr>
        <p:spPr>
          <a:xfrm>
            <a:off x="8158277" y="2331720"/>
            <a:ext cx="3576218" cy="1219200"/>
          </a:xfrm>
          <a:prstGeom prst="rect">
            <a:avLst/>
          </a:prstGeom>
          <a:solidFill>
            <a:srgbClr val="FBEFE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95437" y="2423160"/>
            <a:ext cx="3301898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AI-OCRで自動読み取りし、品番マスタと</a:t>
            </a:r>
            <a:br>
              <a:rPr lang="en-US" sz="13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</a:br>
            <a:r>
              <a:rPr lang="en-US" sz="13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自動照合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688080"/>
            <a:ext cx="3576218" cy="121920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779520"/>
            <a:ext cx="3301898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基幹システムへ手入力（1件約12分）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088282" y="4160520"/>
            <a:ext cx="164592" cy="274320"/>
          </a:xfrm>
          <a:prstGeom prst="chevron">
            <a:avLst/>
          </a:prstGeom>
          <a:solidFill>
            <a:srgbClr val="C9CF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07738" y="3688080"/>
            <a:ext cx="3576218" cy="121920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444898" y="3779520"/>
            <a:ext cx="3301898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繁忙期に処理が追いつかない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38821" y="4160520"/>
            <a:ext cx="164592" cy="274320"/>
          </a:xfrm>
          <a:prstGeom prst="chevron">
            <a:avLst/>
          </a:prstGeom>
          <a:solidFill>
            <a:srgbClr val="C9CFD6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8277" y="3688080"/>
            <a:ext cx="3576218" cy="1219200"/>
          </a:xfrm>
          <a:prstGeom prst="rect">
            <a:avLst/>
          </a:prstGeom>
          <a:solidFill>
            <a:srgbClr val="FBEFE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95437" y="3779520"/>
            <a:ext cx="3301898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読み取り結果をAPI経由で自動登録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5044440"/>
            <a:ext cx="3576218" cy="121920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5135880"/>
            <a:ext cx="3301898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担当者がダブルチェック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088282" y="5516880"/>
            <a:ext cx="164592" cy="274320"/>
          </a:xfrm>
          <a:prstGeom prst="chevron">
            <a:avLst/>
          </a:prstGeom>
          <a:solidFill>
            <a:srgbClr val="C9CF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07738" y="5044440"/>
            <a:ext cx="3576218" cy="121920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444898" y="5135880"/>
            <a:ext cx="3301898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チェック自体が属人化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938821" y="5516880"/>
            <a:ext cx="164592" cy="274320"/>
          </a:xfrm>
          <a:prstGeom prst="chevron">
            <a:avLst/>
          </a:prstGeom>
          <a:solidFill>
            <a:srgbClr val="C9CFD6"/>
          </a:solidFill>
          <a:ln/>
        </p:spPr>
      </p:sp>
      <p:sp>
        <p:nvSpPr>
          <p:cNvPr id="33" name="Shape 31"/>
          <p:cNvSpPr/>
          <p:nvPr/>
        </p:nvSpPr>
        <p:spPr>
          <a:xfrm>
            <a:off x="8158277" y="5044440"/>
            <a:ext cx="3576218" cy="1219200"/>
          </a:xfrm>
          <a:prstGeom prst="rect">
            <a:avLst/>
          </a:prstGeom>
          <a:solidFill>
            <a:srgbClr val="FBEFE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95437" y="5135880"/>
            <a:ext cx="3301898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差異があるものだけを担当者に通知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繁忙期の受注件数は通常月の1.8倍で、現体制では処理しきれない</a:t>
            </a:r>
            <a:endParaRPr lang="en-US" sz="2200" dirty="0"/>
          </a:p>
        </p:txBody>
      </p:sp>
      <p:sp>
        <p:nvSpPr>
          <p:cNvPr id="3" name="source"/>
          <p:cNvSpPr txBox="1"/>
          <p:nvPr/>
        </p:nvSpPr>
        <p:spPr>
          <a:xfrm>
            <a:off x="457200" y="6446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出所：基幹システムの受注データ（2026年4〜9月）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80160"/>
          <a:ext cx="7223760" cy="4983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unit"/>
          <p:cNvSpPr txBox="1"/>
          <p:nvPr/>
        </p:nvSpPr>
        <p:spPr>
          <a:xfrm>
            <a:off x="457200" y="9875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（件）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955280" y="1280160"/>
            <a:ext cx="3779215" cy="498348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0" y="150876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示唆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2011680"/>
            <a:ext cx="3230575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7〜8月の受注は通常月の約1.8倍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1件18分で計算すると、繁忙月は約220時間が必要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担当者3名の処理能力</a:t>
            </a:r>
            <a:b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</a:b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（約150時間）を大きく</a:t>
            </a:r>
            <a:b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</a:b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超えている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3つの選択肢のうち、案Bが費用対効果と導入リスクのバランスに優れる</a:t>
            </a:r>
            <a:endParaRPr lang="en-US" sz="2200" dirty="0"/>
          </a:p>
        </p:txBody>
      </p:sp>
      <p:sp>
        <p:nvSpPr>
          <p:cNvPr id="3" name="source"/>
          <p:cNvSpPr txBox="1"/>
          <p:nvPr/>
        </p:nvSpPr>
        <p:spPr>
          <a:xfrm>
            <a:off x="457200" y="6446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出所：各社見積もり（2026年10月時点）をもとに作成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729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58058"/>
                <a:gridCol w="3058058"/>
                <a:gridCol w="3058058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案A：人員増強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案B：AI-OCR＋API連携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82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案C：基幹システム刷新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初期費用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0円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480万円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3,200万円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年間コスト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約900万円（2名採用）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約96万円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約360万円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削減時間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—（工数は減らない）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月120時間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月140時間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導入期間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2〜3か月（採用）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3か月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12〜18か月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主なリスク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採用難・教育負担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読み取り精度の初期調整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長期化・現場の混乱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導入後12か月で、時間・品質・費用のすべてに効果が出る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0"/>
            <a:ext cx="11277295" cy="731520"/>
          </a:xfrm>
          <a:prstGeom prst="rect">
            <a:avLst/>
          </a:prstGeom>
          <a:solidFill>
            <a:srgbClr val="FBEFE2"/>
          </a:solidFill>
          <a:ln/>
        </p:spPr>
      </p:sp>
      <p:sp>
        <p:nvSpPr>
          <p:cNvPr id="4" name="bottomLine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　</a:t>
            </a:r>
            <a:pPr indent="0" marL="0">
              <a:buNone/>
            </a:pPr>
            <a:r>
              <a:rPr lang="en-US" sz="16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初期投資480万円は、約7か月で回収できる</a:t>
            </a:r>
            <a:endParaRPr lang="en-US" sz="1600" dirty="0"/>
          </a:p>
        </p:txBody>
      </p:sp>
      <p:sp>
        <p:nvSpPr>
          <p:cNvPr id="5" name="source"/>
          <p:cNvSpPr txBox="1"/>
          <p:nvPr/>
        </p:nvSpPr>
        <p:spPr>
          <a:xfrm>
            <a:off x="457200" y="6446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出所：当社試算（人件費は時給換算3,000円で計算）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576218" cy="402336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82880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削減できる作業時間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7744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120</a:t>
            </a:r>
            <a:pPr indent="0" marL="0">
              <a:buNone/>
            </a:pPr>
            <a:r>
              <a:rPr lang="en-US" sz="2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時間/月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57600"/>
            <a:ext cx="30275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受注処理の約7割を自動化。担当者は</a:t>
            </a:r>
            <a:b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</a:b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例外処理と顧客対応に集中できる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07738" y="1280160"/>
            <a:ext cx="3576218" cy="402336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82058" y="182880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誤出荷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237744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</a:t>
            </a:r>
            <a:pPr indent="0" marL="0">
              <a:buNone/>
            </a:pPr>
            <a:r>
              <a:rPr lang="en-US" sz="2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件/月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4582058" y="3657600"/>
            <a:ext cx="30275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現状は月平均6件。品番マスタとの</a:t>
            </a:r>
            <a:b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</a:b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自動照合で転記ミスを防ぐ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8277" y="1280160"/>
            <a:ext cx="3576218" cy="402336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32597" y="182880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投資回収期間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32597" y="237744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pPr indent="0" marL="0">
              <a:buNone/>
            </a:pPr>
            <a:r>
              <a:rPr lang="en-US" sz="2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か月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8432597" y="3657600"/>
            <a:ext cx="30275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初期費用480万円に対し、</a:t>
            </a:r>
            <a:b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</a:b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年間約860万円の削減効果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まずは「効果が大きく、すぐ始められる」受注処理から着手する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1325880" y="1325880"/>
            <a:ext cx="5044288" cy="214884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00200" y="1463040"/>
            <a:ext cx="449564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在庫引当の自動化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効果は大きいが、在庫データの整備が先に必要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61608" y="1325880"/>
            <a:ext cx="5044288" cy="2148840"/>
          </a:xfrm>
          <a:prstGeom prst="rect">
            <a:avLst/>
          </a:prstGeom>
          <a:solidFill>
            <a:srgbClr val="FBEFE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735928" y="1463040"/>
            <a:ext cx="449564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受注処理の自動化（今回の提案）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効果が大きく、既存システムのAPIですぐ始められる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325880" y="3566160"/>
            <a:ext cx="5044288" cy="214884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00200" y="3703320"/>
            <a:ext cx="449564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請求書発行の電子化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効果は限定的。受注処理の後に検討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61608" y="3566160"/>
            <a:ext cx="5044288" cy="214884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35928" y="3703320"/>
            <a:ext cx="449564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日報のデジタル化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すぐ始められるが、削減効果は小さい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143000" y="1280160"/>
            <a:ext cx="0" cy="4480560"/>
          </a:xfrm>
          <a:prstGeom prst="line">
            <a:avLst/>
          </a:prstGeom>
          <a:noFill/>
          <a:ln w="15875">
            <a:solidFill>
              <a:srgbClr val="5B6770"/>
            </a:solidFill>
            <a:prstDash val="solid"/>
            <a:headEnd type="triangle"/>
          </a:ln>
        </p:spPr>
      </p:sp>
      <p:sp>
        <p:nvSpPr>
          <p:cNvPr id="12" name="Shape 10"/>
          <p:cNvSpPr/>
          <p:nvPr/>
        </p:nvSpPr>
        <p:spPr>
          <a:xfrm>
            <a:off x="1280160" y="5870448"/>
            <a:ext cx="10271455" cy="0"/>
          </a:xfrm>
          <a:prstGeom prst="line">
            <a:avLst/>
          </a:prstGeom>
          <a:noFill/>
          <a:ln w="15875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57200" y="1280160"/>
            <a:ext cx="548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eaVer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効果の大きさ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94360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導入のしやすさ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3か月で本番稼働し、4か月目から効果測定に入る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487168" y="1280160"/>
            <a:ext cx="1816547" cy="41148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468880" y="1280160"/>
            <a:ext cx="1853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340291" y="1280160"/>
            <a:ext cx="1816547" cy="41148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322003" y="1280160"/>
            <a:ext cx="1853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12月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3414" y="1280160"/>
            <a:ext cx="1816547" cy="41148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175126" y="1280160"/>
            <a:ext cx="1853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1月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46537" y="1280160"/>
            <a:ext cx="1816547" cy="41148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028249" y="1280160"/>
            <a:ext cx="1853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899660" y="1280160"/>
            <a:ext cx="1816547" cy="41148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881372" y="1280160"/>
            <a:ext cx="1853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3月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11277295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178308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要件整理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14600" y="1947672"/>
            <a:ext cx="1761683" cy="676656"/>
          </a:xfrm>
          <a:prstGeom prst="roundRect">
            <a:avLst>
              <a:gd name="adj" fmla="val 10811"/>
            </a:avLst>
          </a:prstGeom>
          <a:solidFill>
            <a:srgbClr val="EEF1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606040" y="1947672"/>
            <a:ext cx="15788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業務フロー確認・</a:t>
            </a:r>
            <a:b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</a:b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帳票収集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794760"/>
            <a:ext cx="11277295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7889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開発・設定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441162" y="2953512"/>
            <a:ext cx="1761683" cy="676656"/>
          </a:xfrm>
          <a:prstGeom prst="roundRect">
            <a:avLst>
              <a:gd name="adj" fmla="val 10811"/>
            </a:avLst>
          </a:prstGeom>
          <a:solidFill>
            <a:srgbClr val="EEF1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32602" y="2953512"/>
            <a:ext cx="15788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AI-OCR設定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294285" y="2953512"/>
            <a:ext cx="1761683" cy="676656"/>
          </a:xfrm>
          <a:prstGeom prst="roundRect">
            <a:avLst>
              <a:gd name="adj" fmla="val 10811"/>
            </a:avLst>
          </a:prstGeom>
          <a:solidFill>
            <a:srgbClr val="EEF1F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85725" y="2953512"/>
            <a:ext cx="15788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API連携開発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800600"/>
            <a:ext cx="11277295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79476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20846" y="3959352"/>
            <a:ext cx="1761683" cy="676656"/>
          </a:xfrm>
          <a:prstGeom prst="roundRect">
            <a:avLst>
              <a:gd name="adj" fmla="val 10811"/>
            </a:avLst>
          </a:prstGeom>
          <a:solidFill>
            <a:srgbClr val="EEF1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12286" y="3959352"/>
            <a:ext cx="15788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並行稼働テスト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806440"/>
            <a:ext cx="11277295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7200" y="480060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本番稼働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73969" y="4965192"/>
            <a:ext cx="1020434" cy="676656"/>
          </a:xfrm>
          <a:prstGeom prst="roundRect">
            <a:avLst>
              <a:gd name="adj" fmla="val 10811"/>
            </a:avLst>
          </a:prstGeom>
          <a:solidFill>
            <a:srgbClr val="D9822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65409" y="4965192"/>
            <a:ext cx="83755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本番稼働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185843" y="4965192"/>
            <a:ext cx="2502932" cy="676656"/>
          </a:xfrm>
          <a:prstGeom prst="roundRect">
            <a:avLst>
              <a:gd name="adj" fmla="val 10811"/>
            </a:avLst>
          </a:prstGeom>
          <a:solidFill>
            <a:srgbClr val="EEF1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277283" y="4965192"/>
            <a:ext cx="23200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効果測定・改善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導入後の受注処理は、人の作業が「確認」だけになる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0"/>
            <a:ext cx="11277295" cy="731520"/>
          </a:xfrm>
          <a:prstGeom prst="rect">
            <a:avLst/>
          </a:prstGeom>
          <a:solidFill>
            <a:srgbClr val="FBEFE2"/>
          </a:solidFill>
          <a:ln/>
        </p:spPr>
      </p:sp>
      <p:sp>
        <p:nvSpPr>
          <p:cNvPr id="4" name="bottomLine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　</a:t>
            </a:r>
            <a:pPr indent="0" marL="0">
              <a:buNone/>
            </a:pPr>
            <a:r>
              <a:rPr lang="en-US" sz="16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担当者は「入力」から解放され、例外処理と顧客対応に時間を使える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09646" y="3108960"/>
            <a:ext cx="182880" cy="365760"/>
          </a:xfrm>
          <a:prstGeom prst="chevron">
            <a:avLst/>
          </a:prstGeom>
          <a:solidFill>
            <a:srgbClr val="C9CFD6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2579294" cy="50292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280160"/>
            <a:ext cx="25792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579294" cy="352044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2011680"/>
            <a:ext cx="212209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注文書を受信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FAX・メール・PDFを</a:t>
            </a:r>
            <a:b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</a:b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専用フォルダに自動保存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008980" y="3108960"/>
            <a:ext cx="182880" cy="365760"/>
          </a:xfrm>
          <a:prstGeom prst="chevron">
            <a:avLst/>
          </a:prstGeom>
          <a:solidFill>
            <a:srgbClr val="C9CFD6"/>
          </a:solidFill>
          <a:ln/>
        </p:spPr>
      </p:sp>
      <p:sp>
        <p:nvSpPr>
          <p:cNvPr id="11" name="Shape 9"/>
          <p:cNvSpPr/>
          <p:nvPr/>
        </p:nvSpPr>
        <p:spPr>
          <a:xfrm>
            <a:off x="3356534" y="1280160"/>
            <a:ext cx="2579294" cy="50292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356534" y="1280160"/>
            <a:ext cx="25792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56534" y="1783080"/>
            <a:ext cx="2579294" cy="352044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85134" y="2011680"/>
            <a:ext cx="212209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AIが読み取り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品番・数量・納期を</a:t>
            </a:r>
            <a:b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</a:b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抽出し、品番マスタと</a:t>
            </a:r>
            <a:b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</a:b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908313" y="3108960"/>
            <a:ext cx="182880" cy="365760"/>
          </a:xfrm>
          <a:prstGeom prst="chevron">
            <a:avLst/>
          </a:prstGeom>
          <a:solidFill>
            <a:srgbClr val="C9CFD6"/>
          </a:solidFill>
          <a:ln/>
        </p:spPr>
      </p:sp>
      <p:sp>
        <p:nvSpPr>
          <p:cNvPr id="16" name="Shape 14"/>
          <p:cNvSpPr/>
          <p:nvPr/>
        </p:nvSpPr>
        <p:spPr>
          <a:xfrm>
            <a:off x="6255868" y="1280160"/>
            <a:ext cx="2579294" cy="50292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55868" y="1280160"/>
            <a:ext cx="25792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55868" y="1783080"/>
            <a:ext cx="2579294" cy="352044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84468" y="2011680"/>
            <a:ext cx="212209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システムに登録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照合済みのデータを</a:t>
            </a:r>
            <a:b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</a:b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API経由で基幹システムに登録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9155201" y="1280160"/>
            <a:ext cx="2579294" cy="50292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55201" y="1280160"/>
            <a:ext cx="25792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155201" y="1783080"/>
            <a:ext cx="2579294" cy="3520440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83801" y="2011680"/>
            <a:ext cx="212209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差異だけ確認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照合できなかった</a:t>
            </a:r>
            <a:b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</a:b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項目のみ担当者に</a:t>
            </a:r>
            <a:b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</a:b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通知し、人が最終判断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B2A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11月中にご判断いただければ、来年3月の繁忙期前に稼働できる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729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6705295"/>
                <a:gridCol w="2194560"/>
                <a:gridCol w="182880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実施事項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期限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82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本提案のご承認と予算の確保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サンプル精工 様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11月14日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82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注文書サンプル（直近3か月分）のご提供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サンプル精工 様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11月21日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82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要件定義書のご提出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当社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11月28日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82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キックオフミーティング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双方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12月第1週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0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受注業務DXのご提案</dc:title>
  <dc:subject>PptxGenJS Presentation</dc:subject>
  <dc:creator>PptxGenJS</dc:creator>
  <cp:lastModifiedBy>PptxGenJS</cp:lastModifiedBy>
  <cp:revision>1</cp:revision>
  <dcterms:created xsi:type="dcterms:W3CDTF">2026-10-22T10:55:02Z</dcterms:created>
  <dcterms:modified xsi:type="dcterms:W3CDTF">2026-10-22T10:55:02Z</dcterms:modified>
</cp:coreProperties>
</file>